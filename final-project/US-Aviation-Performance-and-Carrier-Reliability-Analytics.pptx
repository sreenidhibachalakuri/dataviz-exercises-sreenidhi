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4-3.svg" ContentType="image/svg+xml"/>
  <Override PartName="/ppt/media/image-5-3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media/image-8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Marcellus"/>
      <p:regular r:id="rId201314"/>
    </p:embeddedFont>
    <p:embeddedFont>
      <p:font typeface="Montserrat Thin"/>
      <p:regular r:id="rId201315"/>
    </p:embeddedFont>
    <p:embeddedFont>
      <p:font typeface="Montserrat"/>
      <p:regular r:id="rId201316"/>
    </p:embeddedFont>
    <p:embeddedFont>
      <p:font typeface="Montserrat SemiBold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  <p:embeddedFont>
      <p:font typeface="Montserrat Light"/>
      <p:regular r:id="rId201320"/>
    </p:embeddedFont>
    <p:embeddedFont>
      <p:font typeface="Montserrat ExtraLight"/>
      <p:regular r:id="rId201321"/>
    </p:embeddedFont>
    <p:embeddedFont>
      <p:font typeface="Montserrat Medium"/>
      <p:regular r:id="rId201322"/>
    </p:embeddedFont>
    <p:embeddedFont>
      <p:font typeface="Montserrat Extra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323677"/>
            <a:ext cx="4722763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 Aviation Performance &amp; Carrier Reliability Analytics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96119" y="2436912"/>
            <a:ext cx="4722763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Storytelling on Delays, Root Causes, and Airline Operational Efficiency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Individual Project | Data Visualization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199730"/>
            <a:ext cx="4722763" cy="620018"/>
          </a:xfrm>
          <a:prstGeom prst="roundRect">
            <a:avLst>
              <a:gd name="adj" fmla="val 8403"/>
            </a:avLst>
          </a:prstGeom>
          <a:solidFill>
            <a:srgbClr val="FFE0CC"/>
          </a:solidFill>
          <a:ln/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3360465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071" y="3354660"/>
            <a:ext cx="4195837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Interactive Dashboard: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Deployed via Streamlit Community Cloud — explore filters, KPIs, and multi-tab breakdowns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6696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&amp; Analytical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1188318"/>
            <a:ext cx="8151763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US Bureau of Transportation Statistics (BTS) Flight Performance Dataset —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600,000+ flight records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analyzed across four analytical dimensions.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50355"/>
            <a:ext cx="4013895" cy="10664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1788616"/>
            <a:ext cx="368022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Temporal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1530" y="2094756"/>
            <a:ext cx="3680222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Departure time blocks, day-of-week patterns — identifying when delays compound most severely across the operating day.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650355"/>
            <a:ext cx="4013895" cy="10664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29398" y="1788616"/>
            <a:ext cx="368022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Spatial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829398" y="2094756"/>
            <a:ext cx="3680222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Busiest US hub airports —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ATL, DFW, ORD, DEN, LAX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ranked by delay burden and ground efficiency.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40757"/>
            <a:ext cx="4013895" cy="10664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1530" y="2979018"/>
            <a:ext cx="368022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Airline Models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91530" y="3285158"/>
            <a:ext cx="3680222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Carriers (Delta, United, American) vs. Low-Cost Carriers (Southwest, Spirit, JetBlue) — operational reliability benchmarked head-to-head.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2840757"/>
            <a:ext cx="4013895" cy="10664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29398" y="2979018"/>
            <a:ext cx="368022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Performance Metrics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829398" y="3285158"/>
            <a:ext cx="3680222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Arrival/departure delays, taxi-out times, delay root causes (carrier, late aircraft, weather, NAS, security), and in-flight schedule recovery.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4046711"/>
            <a:ext cx="8151763" cy="620018"/>
          </a:xfrm>
          <a:prstGeom prst="roundRect">
            <a:avLst>
              <a:gd name="adj" fmla="val 8403"/>
            </a:avLst>
          </a:prstGeom>
          <a:solidFill>
            <a:srgbClr val="FFE0CC"/>
          </a:solidFill>
          <a:ln/>
        </p:spPr>
        <p:txBody>
          <a:bodyPr/>
          <a:p/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4207446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4201641"/>
            <a:ext cx="7624837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Objective: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Uncover operational bottlenecks, quantify delay propagation mechanisms, and evaluate carrier reliability across route types and time windows.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3764"/>
            <a:ext cx="8151763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Late Evening Departures Accumulate Peak Delays Across All Major Carriers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32148"/>
            <a:ext cx="5219179" cy="329490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7023" y="1232148"/>
            <a:ext cx="2705546" cy="660127"/>
          </a:xfrm>
          <a:prstGeom prst="roundRect">
            <a:avLst>
              <a:gd name="adj" fmla="val 5919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049566" y="1334691"/>
            <a:ext cx="25004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Morning Baseline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49566" y="1578248"/>
            <a:ext cx="2500461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06:00–08:59 avg under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min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fresh rotations, low congestion.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947023" y="1962001"/>
            <a:ext cx="2705546" cy="660127"/>
          </a:xfrm>
          <a:prstGeom prst="roundRect">
            <a:avLst>
              <a:gd name="adj" fmla="val 5919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049566" y="2064544"/>
            <a:ext cx="25004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Evening Peak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49566" y="2308101"/>
            <a:ext cx="2500461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20:00–22:59 reaches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20–35 min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10–17× increase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 morning.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947023" y="2691854"/>
            <a:ext cx="2705546" cy="660127"/>
          </a:xfrm>
          <a:prstGeom prst="roundRect">
            <a:avLst>
              <a:gd name="adj" fmla="val 5919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49566" y="2794397"/>
            <a:ext cx="25004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Systemic Pattern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49566" y="3037954"/>
            <a:ext cx="2500461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curve is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uniform across all carriers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airspace &amp; rotation effect, not carrier-specific.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96119" y="4683919"/>
            <a:ext cx="8608963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Departure time block is the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single most predictable passenger-controllable variable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delay exposure.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Late Aircraft &amp; Carrier Operations Drive Long-Haul Disruption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34826"/>
            <a:ext cx="8151763" cy="456493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336" y="5273241"/>
            <a:ext cx="93018" cy="930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7632" y="5269409"/>
            <a:ext cx="3798763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Short-Haul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697632" y="5416228"/>
            <a:ext cx="3798763" cy="1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Carrier-induced ground delay dominates — gate holds, crew scheduling, and turnaround inefficiencies. Not airspace or weather.</a:t>
            </a:r>
            <a:endParaRPr lang="en-US" sz="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336" y="5602895"/>
            <a:ext cx="93018" cy="930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7632" y="5599063"/>
            <a:ext cx="3798763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Medium-Haul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697632" y="5745882"/>
            <a:ext cx="3798763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Late-arriving aircraft propagation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overtakes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carrier operations as rotation chains lengthen across the day.</a:t>
            </a:r>
            <a:endParaRPr lang="en-US" sz="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336" y="5872125"/>
            <a:ext cx="93018" cy="930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7632" y="5868293"/>
            <a:ext cx="3798763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Long-Haul</a:t>
            </a:r>
            <a:endParaRPr lang="en-US" sz="700" dirty="0"/>
          </a:p>
        </p:txBody>
      </p:sp>
      <p:sp>
        <p:nvSpPr>
          <p:cNvPr id="12" name="Text 6"/>
          <p:cNvSpPr/>
          <p:nvPr/>
        </p:nvSpPr>
        <p:spPr>
          <a:xfrm>
            <a:off x="697632" y="6015112"/>
            <a:ext cx="3798763" cy="1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aircraft propagation is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dominant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single upstream delay cascades across multiple downstream flights in the same rotation.</a:t>
            </a:r>
            <a:endParaRPr lang="en-US" sz="450" dirty="0"/>
          </a:p>
        </p:txBody>
      </p:sp>
      <p:sp>
        <p:nvSpPr>
          <p:cNvPr id="13" name="Shape 7"/>
          <p:cNvSpPr/>
          <p:nvPr/>
        </p:nvSpPr>
        <p:spPr>
          <a:xfrm>
            <a:off x="4607719" y="5234583"/>
            <a:ext cx="4089574" cy="936203"/>
          </a:xfrm>
          <a:prstGeom prst="roundRect">
            <a:avLst>
              <a:gd name="adj" fmla="val 4770"/>
            </a:avLst>
          </a:prstGeom>
          <a:solidFill>
            <a:srgbClr val="532418">
              <a:alpha val="95000"/>
            </a:srgbClr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4669706" y="5265539"/>
            <a:ext cx="3965600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Strategic Implication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4669706" y="5412358"/>
            <a:ext cx="4422800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mitigation must be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distance-tier-specific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endParaRPr lang="en-US" sz="450" dirty="0"/>
          </a:p>
        </p:txBody>
      </p:sp>
      <p:sp>
        <p:nvSpPr>
          <p:cNvPr id="16" name="Text 10"/>
          <p:cNvSpPr/>
          <p:nvPr/>
        </p:nvSpPr>
        <p:spPr>
          <a:xfrm>
            <a:off x="4669706" y="5500688"/>
            <a:ext cx="3965600" cy="2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91440" indent="-91440">
              <a:lnSpc>
                <a:spcPct val="81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 ops reform for short-haul</a:t>
            </a:r>
            <a:endParaRPr lang="en-US" sz="450" dirty="0"/>
          </a:p>
          <a:p>
            <a:pPr algn="l" marL="91440" indent="-91440">
              <a:lnSpc>
                <a:spcPct val="81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Rotation buffer scheduling for medium-haul</a:t>
            </a:r>
            <a:endParaRPr lang="en-US" sz="450" dirty="0"/>
          </a:p>
          <a:p>
            <a:pPr algn="l" marL="91440" indent="-91440">
              <a:lnSpc>
                <a:spcPct val="81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Upstream cascade breaks for long-haul</a:t>
            </a:r>
            <a:endParaRPr lang="en-US" sz="450" dirty="0"/>
          </a:p>
        </p:txBody>
      </p:sp>
      <p:sp>
        <p:nvSpPr>
          <p:cNvPr id="17" name="Text 11"/>
          <p:cNvSpPr/>
          <p:nvPr/>
        </p:nvSpPr>
        <p:spPr>
          <a:xfrm>
            <a:off x="4669706" y="5731446"/>
            <a:ext cx="4422800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&amp; NAS remain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secondary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all tiers — structural patterns dominate over episodic events.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2202"/>
            <a:ext cx="8151763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Departure Taxi-Out Congestion Far Outweighs Destination Taxi-In Delays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0478"/>
            <a:ext cx="4792712" cy="314920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9457" y="1320478"/>
            <a:ext cx="3113187" cy="8563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1651" y="1435522"/>
            <a:ext cx="2825948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ORD &amp; DFW Lead Burden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1651" y="1705719"/>
            <a:ext cx="2825948" cy="35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Runway configuration constraints and high departure volume density drive the highest arrival delays among top US hubs.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9457" y="2258690"/>
            <a:ext cx="3113187" cy="8563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1651" y="2373734"/>
            <a:ext cx="2825948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Taxi-In Stability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11651" y="2643932"/>
            <a:ext cx="2825948" cy="35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Destination taxi-in times are </a:t>
            </a:r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consistent across all airports and time blocks</a:t>
            </a:r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arrival runway capacity is not the binding constraint.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9457" y="3196903"/>
            <a:ext cx="3113187" cy="8563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1651" y="3311947"/>
            <a:ext cx="2825948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ATL Efficiency Outlier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711651" y="3582144"/>
            <a:ext cx="2825948" cy="35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 taxi-out times despite </a:t>
            </a:r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highest total flight volume</a:t>
            </a:r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attributed to parallel runway system and optimized gate sequencing.</a:t>
            </a:r>
            <a:endParaRPr lang="en-US" sz="750" dirty="0"/>
          </a:p>
        </p:txBody>
      </p:sp>
      <p:sp>
        <p:nvSpPr>
          <p:cNvPr id="13" name="Shape 7"/>
          <p:cNvSpPr/>
          <p:nvPr/>
        </p:nvSpPr>
        <p:spPr>
          <a:xfrm>
            <a:off x="5539457" y="4145384"/>
            <a:ext cx="3113187" cy="553715"/>
          </a:xfrm>
          <a:prstGeom prst="roundRect">
            <a:avLst>
              <a:gd name="adj" fmla="val 7645"/>
            </a:avLst>
          </a:prstGeom>
          <a:solidFill>
            <a:srgbClr val="FFE0CC"/>
          </a:solidFill>
          <a:ln/>
        </p:spPr>
        <p:txBody>
          <a:bodyPr/>
          <a:p/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0214" y="4273600"/>
            <a:ext cx="125983" cy="10075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66954" y="4244206"/>
            <a:ext cx="2684934" cy="35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Finding:</a:t>
            </a:r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Departure runway queue management is the </a:t>
            </a:r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highest-leverage intervention point</a:t>
            </a:r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hub-level delay reduction.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Legacy Carriers Maintain Better On-Time Consistency and Lower Cancellation Rates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34826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65539"/>
            <a:ext cx="2616101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Schedule Padding Advantage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5412358"/>
            <a:ext cx="2616101" cy="1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airlines absorb up to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minutes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departure delay in-flight on long-haul routes through built-in schedule buffers — arriving on time despite late pushbacks.</a:t>
            </a:r>
            <a:endParaRPr lang="en-US" sz="450" dirty="0"/>
          </a:p>
        </p:txBody>
      </p:sp>
      <p:sp>
        <p:nvSpPr>
          <p:cNvPr id="6" name="Text 3"/>
          <p:cNvSpPr/>
          <p:nvPr/>
        </p:nvSpPr>
        <p:spPr>
          <a:xfrm>
            <a:off x="3268191" y="5265539"/>
            <a:ext cx="2616101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LCC Turnaround Risk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268191" y="5412358"/>
            <a:ext cx="2616101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Low-cost carriers operate turnaround windows often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&lt;30 min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single late arrival triggers a cascade across the full day's rotation. Budget carriers show significantly higher cancellation rates Tuesday–Thursday when load factors peak.</a:t>
            </a:r>
            <a:endParaRPr lang="en-US" sz="450" dirty="0"/>
          </a:p>
        </p:txBody>
      </p:sp>
      <p:sp>
        <p:nvSpPr>
          <p:cNvPr id="8" name="Text 5"/>
          <p:cNvSpPr/>
          <p:nvPr/>
        </p:nvSpPr>
        <p:spPr>
          <a:xfrm>
            <a:off x="6040264" y="5265539"/>
            <a:ext cx="2616101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ULCC Tradeoff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040264" y="5412358"/>
            <a:ext cx="2616101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Spirit &amp; Frontier exhibit the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steepest delay propagation curves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operational efficiency maximized at the direct cost of schedule resilience. Legacy carrier premium pricing reflects a </a:t>
            </a:r>
            <a:pPr algn="l" indent="0" marL="0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quantifiable operational advantage</a:t>
            </a:r>
            <a:pPr algn="l" indent="0" marL="0">
              <a:lnSpc>
                <a:spcPct val="8100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8796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Explore the Data Interactively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1080418"/>
            <a:ext cx="8151763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deployed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Streamlit Community Cloud dashboard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enables real-time exploration of all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600,000+ flight records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full filter control and live KPI updates.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42455"/>
            <a:ext cx="248022" cy="2480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945481"/>
            <a:ext cx="399834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Dynamic Sidebar Filters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6119" y="2251621"/>
            <a:ext cx="3998342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selections for airline, distance tier, departure time block, origin hub, and date range — instantly recalculates all visualizations on every interaction.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542455"/>
            <a:ext cx="248022" cy="2480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1945481"/>
            <a:ext cx="399841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Real-Time KPI Metrics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649465" y="2251621"/>
            <a:ext cx="3998416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tracking of total flight volume, average arrival delay, cancellation rate, and average flight distance — updates on every filter change.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83409"/>
            <a:ext cx="248022" cy="2480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386435"/>
            <a:ext cx="399834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Multi-Tab Breakdown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96119" y="3692575"/>
            <a:ext cx="3998342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dedicated analytical tabs —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Carrier Delays, Root Cause Analysis,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Route Performance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each with interactive Plotly charts.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2983409"/>
            <a:ext cx="248022" cy="2480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386435"/>
            <a:ext cx="399841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Carrier Comparison Module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649465" y="3692575"/>
            <a:ext cx="3998416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Side-by-side legacy vs. LCC performance benchmarking with drill-down by route type and time window.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4315867"/>
            <a:ext cx="8151763" cy="458763"/>
          </a:xfrm>
          <a:prstGeom prst="roundRect">
            <a:avLst>
              <a:gd name="adj" fmla="val 11357"/>
            </a:avLst>
          </a:prstGeom>
          <a:solidFill>
            <a:srgbClr val="FFE0CC"/>
          </a:solidFill>
          <a:ln/>
        </p:spPr>
        <p:txBody>
          <a:bodyPr/>
          <a:p/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4476601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4470797"/>
            <a:ext cx="8082037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🔗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 the live dashboard: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Deployed via Streamlit Community Cloud — link available in project submission.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5345"/>
            <a:ext cx="8151763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Three Findings That Should Change How Aviation Operates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50566"/>
            <a:ext cx="2634555" cy="2476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0379" y="1622822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4380" y="2060897"/>
            <a:ext cx="2358033" cy="463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 Travelers — Book the Morning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4380" y="2598762"/>
            <a:ext cx="2358033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Flights departing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06:00–08:59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average under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minutes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arrival delay. Late evening departures average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20–35 minutes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Departure time block is the most actionable, passenger-controlled variable for delay avoidance — and the data proves it decisively.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550566"/>
            <a:ext cx="2634630" cy="2476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8908" y="1622822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392909" y="2060897"/>
            <a:ext cx="2358107" cy="463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 Airlines — Buffer LCC Turnarounds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92909" y="2598762"/>
            <a:ext cx="2358107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Low-cost carrier delay propagation is structurally driven by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sub-30-minute turnaround windows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Adding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10–15 minutes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rotation buffer on medium-haul routes would break the cascade effect and reduce same-day cancellation risk without major capital investment.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1550566"/>
            <a:ext cx="2634555" cy="2476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7512" y="1622822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151513" y="2060897"/>
            <a:ext cx="2358033" cy="463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 Airport Ops — Manage the Evening Queue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151513" y="2598762"/>
            <a:ext cx="2358033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Taxi-out congestion during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17:00–20:00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primary ground-level delay trigger at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 and DFW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Prioritizing departure runway sequencing during this window — not arrival management — is the highest-ROI operational intervention available.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82154" y="4306119"/>
            <a:ext cx="7965728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Bottom line: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data is clear — delay is predictable, propagation is structural, and the interventions are specific. The question is execution.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96119" y="4166592"/>
            <a:ext cx="14288" cy="601563"/>
          </a:xfrm>
          <a:prstGeom prst="roundRect">
            <a:avLst>
              <a:gd name="adj" fmla="val 49998"/>
            </a:avLst>
          </a:prstGeom>
          <a:solidFill>
            <a:srgbClr val="FF954F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2026-07-29T22:45:09Z</dcterms:created>
  <dcterms:modified xsi:type="dcterms:W3CDTF">2026-07-29T22:45:09Z</dcterms:modified>
</cp:coreProperties>
</file>